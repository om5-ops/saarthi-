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Public Sans"/>
      <p:regular r:id="rId201314"/>
    </p:embeddedFont>
    <p:embeddedFont>
      <p:font typeface="Public Sans Medium"/>
      <p:regular r:id="rId201315"/>
    </p:embeddedFont>
    <p:embeddedFont>
      <p:font typeface="Public Sans SemiBold"/>
      <p:regular r:id="rId201316"/>
    </p:embeddedFont>
    <p:embeddedFont>
      <p:font typeface="Public Sans Bold"/>
      <p:regular r:id="rId201317"/>
    </p:embeddedFont>
    <p:embeddedFont>
      <p:font typeface="Sora SemiBold"/>
      <p:regular r:id="rId201318"/>
    </p:embeddedFont>
    <p:embeddedFont>
      <p:font typeface="Sora ExtraBold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65156" y="1333103"/>
            <a:ext cx="7765856" cy="1219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9600" spc="-144" kern="100" dirty="0">
                <a:solidFill>
                  <a:srgbClr val="FFFFFF"/>
                </a:solidFill>
                <a:latin typeface="Sora ExtraBold" pitchFamily="34" charset="0"/>
                <a:ea typeface="Sora ExtraBold" pitchFamily="34" charset="-122"/>
                <a:cs typeface="Sora ExtraBold" pitchFamily="34" charset="0"/>
              </a:rPr>
              <a:t>SARRTHI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765156" y="2784078"/>
            <a:ext cx="7765856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Proactive compliance and payment monitoring for MSME suppliers to government transport bodies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063898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419489" y="612458"/>
            <a:ext cx="777220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THE PROBLEM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4419489" y="914312"/>
            <a:ext cx="7162621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MSME suppliers discover the loss too late</a:t>
            </a:r>
            <a:endParaRPr lang="en-US" sz="3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9489" y="2019498"/>
            <a:ext cx="539736" cy="5397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419489" y="2694821"/>
            <a:ext cx="21843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Working capital</a:t>
            </a:r>
            <a:endParaRPr lang="en-US" sz="1800" dirty="0"/>
          </a:p>
        </p:txBody>
      </p:sp>
      <p:sp>
        <p:nvSpPr>
          <p:cNvPr id="7" name="Text 3"/>
          <p:cNvSpPr/>
          <p:nvPr/>
        </p:nvSpPr>
        <p:spPr>
          <a:xfrm>
            <a:off x="4419489" y="3153092"/>
            <a:ext cx="2184345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Delayed payments lock working capital and can trigger cascading financial stress.</a:t>
            </a:r>
            <a:endParaRPr lang="en-US" sz="17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08627" y="2019498"/>
            <a:ext cx="539736" cy="53975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08627" y="2694821"/>
            <a:ext cx="21843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Visibility gap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6908627" y="3153092"/>
            <a:ext cx="2184345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Vendors lack live visibility into the statutory 45-day payment window.</a:t>
            </a:r>
            <a:endParaRPr lang="en-US" sz="1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97765" y="2019498"/>
            <a:ext cx="539736" cy="53975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9397765" y="2694821"/>
            <a:ext cx="218434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Damage signals</a:t>
            </a:r>
            <a:endParaRPr lang="en-US" sz="1800" dirty="0"/>
          </a:p>
        </p:txBody>
      </p:sp>
      <p:sp>
        <p:nvSpPr>
          <p:cNvPr id="13" name="Text 7"/>
          <p:cNvSpPr/>
          <p:nvPr/>
        </p:nvSpPr>
        <p:spPr>
          <a:xfrm>
            <a:off x="9397765" y="3153092"/>
            <a:ext cx="2184345" cy="1878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Quota shortfalls and retroactive specification changes are difficult to detect before damage occurs.</a:t>
            </a:r>
            <a:endParaRPr lang="en-US" sz="1700" dirty="0"/>
          </a:p>
        </p:txBody>
      </p:sp>
      <p:sp>
        <p:nvSpPr>
          <p:cNvPr id="14" name="Text 8"/>
          <p:cNvSpPr/>
          <p:nvPr/>
        </p:nvSpPr>
        <p:spPr>
          <a:xfrm>
            <a:off x="11811994" y="6451898"/>
            <a:ext cx="37970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25114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2168406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THE GAP IN THE CURRENT REMEDY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585" y="2470261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current remedy starts after the default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609585" y="3120330"/>
            <a:ext cx="3454314" cy="2486521"/>
          </a:xfrm>
          <a:prstGeom prst="roundRect">
            <a:avLst>
              <a:gd name="adj" fmla="val 1302"/>
            </a:avLst>
          </a:prstGeom>
          <a:solidFill>
            <a:srgbClr val="E7EAF0"/>
          </a:solidFill>
          <a:ln/>
        </p:spPr>
      </p:sp>
      <p:sp>
        <p:nvSpPr>
          <p:cNvPr id="6" name="Text 3"/>
          <p:cNvSpPr/>
          <p:nvPr/>
        </p:nvSpPr>
        <p:spPr>
          <a:xfrm>
            <a:off x="838179" y="3357503"/>
            <a:ext cx="29971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After the problem exists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838179" y="3815774"/>
            <a:ext cx="2997125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The MSME ODR Portal supports dispute resolution after a payment problem exists.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68691" y="3120330"/>
            <a:ext cx="3454314" cy="2486521"/>
          </a:xfrm>
          <a:prstGeom prst="roundRect">
            <a:avLst>
              <a:gd name="adj" fmla="val 1302"/>
            </a:avLst>
          </a:prstGeom>
          <a:solidFill>
            <a:srgbClr val="E7EAF0"/>
          </a:solidFill>
          <a:ln/>
        </p:spPr>
      </p:sp>
      <p:sp>
        <p:nvSpPr>
          <p:cNvPr id="9" name="Text 6"/>
          <p:cNvSpPr/>
          <p:nvPr/>
        </p:nvSpPr>
        <p:spPr>
          <a:xfrm>
            <a:off x="4597285" y="3357503"/>
            <a:ext cx="29971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Before the problem is visible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4597285" y="3815774"/>
            <a:ext cx="2997125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It does not provide a vendor-facing payment clock, buyer risk view, quota monitoring, or specification-change alerts.</a:t>
            </a:r>
            <a:endParaRPr lang="en-US" sz="1700" dirty="0"/>
          </a:p>
        </p:txBody>
      </p:sp>
      <p:sp>
        <p:nvSpPr>
          <p:cNvPr id="11" name="Shape 8"/>
          <p:cNvSpPr/>
          <p:nvPr/>
        </p:nvSpPr>
        <p:spPr>
          <a:xfrm>
            <a:off x="8127797" y="3120330"/>
            <a:ext cx="3454314" cy="2486521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2" name="Text 9"/>
          <p:cNvSpPr/>
          <p:nvPr/>
        </p:nvSpPr>
        <p:spPr>
          <a:xfrm>
            <a:off x="8356391" y="3357503"/>
            <a:ext cx="2997125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Upstream layer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8356391" y="3815774"/>
            <a:ext cx="2997125" cy="15651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SARRTHI is designed as a complementary upstream layer, not a replacement for government dispute resolution.</a:t>
            </a:r>
            <a:endParaRPr lang="en-US" sz="1700" dirty="0"/>
          </a:p>
        </p:txBody>
      </p:sp>
      <p:sp>
        <p:nvSpPr>
          <p:cNvPr id="14" name="Text 11"/>
          <p:cNvSpPr/>
          <p:nvPr/>
        </p:nvSpPr>
        <p:spPr>
          <a:xfrm>
            <a:off x="11808125" y="6451898"/>
            <a:ext cx="383570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FROM REACTIVE TO PROACTIVE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910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SARRTHI turns reactive disputes into proactive action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2022197"/>
            <a:ext cx="11582110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Evidence enters once. Deadlines, risk, and escalation stay connected.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09585" y="2526209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609585" y="2850059"/>
            <a:ext cx="3572679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032562"/>
            <a:ext cx="35727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Capture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09585" y="3490833"/>
            <a:ext cx="35727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Capture invoices, purchase orders, delivery proof, and business data.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309359" y="2526209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4309359" y="2850059"/>
            <a:ext cx="3572877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1" name="Text 9"/>
          <p:cNvSpPr/>
          <p:nvPr/>
        </p:nvSpPr>
        <p:spPr>
          <a:xfrm>
            <a:off x="4309359" y="3032562"/>
            <a:ext cx="357287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Monitor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09359" y="3490833"/>
            <a:ext cx="357287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Track payment deadlines, estimate interest, and surface buyer or compliance risk.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009233" y="2526209"/>
            <a:ext cx="91199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03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8009233" y="2850059"/>
            <a:ext cx="3572877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5" name="Text 13"/>
          <p:cNvSpPr/>
          <p:nvPr/>
        </p:nvSpPr>
        <p:spPr>
          <a:xfrm>
            <a:off x="8009233" y="3032562"/>
            <a:ext cx="3572877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Act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009233" y="3490833"/>
            <a:ext cx="3572877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Alert the vendor early, organize evidence, and prepare an ODR-ready escalation package.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1807629" y="6451898"/>
            <a:ext cx="38406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PRODUCT SURFACE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One command desk for the vendor lifecycle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64382"/>
            <a:ext cx="3454314" cy="2522141"/>
          </a:xfrm>
          <a:prstGeom prst="roundRect">
            <a:avLst>
              <a:gd name="adj" fmla="val 1284"/>
            </a:avLst>
          </a:prstGeom>
          <a:solidFill>
            <a:srgbClr val="E4EA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792982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358450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Dashboard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8179" y="2921516"/>
            <a:ext cx="299712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KPIs, monthly trends, alerts, and buyer-risk indicators.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68691" y="1564382"/>
            <a:ext cx="3454314" cy="2522141"/>
          </a:xfrm>
          <a:prstGeom prst="roundRect">
            <a:avLst>
              <a:gd name="adj" fmla="val 1284"/>
            </a:avLst>
          </a:prstGeom>
          <a:solidFill>
            <a:srgbClr val="E4EAE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1792982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2358450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Operations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597285" y="2921516"/>
            <a:ext cx="299712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Tenders, purchase orders, deliveries, invoices, and payment status.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27797" y="1564382"/>
            <a:ext cx="3454314" cy="2522141"/>
          </a:xfrm>
          <a:prstGeom prst="roundRect">
            <a:avLst>
              <a:gd name="adj" fmla="val 1284"/>
            </a:avLst>
          </a:prstGeom>
          <a:solidFill>
            <a:srgbClr val="E4EA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1792982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6391" y="2358450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Intelligence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356391" y="2921516"/>
            <a:ext cx="299712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Compliance, documents, reports, business profile, and working-capital visibility.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09585" y="4283770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A single command desk connects the vendor lifecycle from transaction to decision.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CORE WORKFLOW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45-day payment clock is the core workflow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585" y="1564382"/>
            <a:ext cx="858320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01</a:t>
            </a:r>
            <a:endParaRPr lang="en-US" sz="1850" dirty="0"/>
          </a:p>
        </p:txBody>
      </p:sp>
      <p:sp>
        <p:nvSpPr>
          <p:cNvPr id="5" name="Shape 3"/>
          <p:cNvSpPr/>
          <p:nvPr/>
        </p:nvSpPr>
        <p:spPr>
          <a:xfrm>
            <a:off x="609585" y="1888232"/>
            <a:ext cx="264788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070735"/>
            <a:ext cx="264788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Day 0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09585" y="2529006"/>
            <a:ext cx="264788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Invoice created. Status is paid, upcoming, or overdue.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3384465" y="1564382"/>
            <a:ext cx="90554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02</a:t>
            </a:r>
            <a:endParaRPr lang="en-US" sz="1850" dirty="0"/>
          </a:p>
        </p:txBody>
      </p:sp>
      <p:sp>
        <p:nvSpPr>
          <p:cNvPr id="9" name="Shape 7"/>
          <p:cNvSpPr/>
          <p:nvPr/>
        </p:nvSpPr>
        <p:spPr>
          <a:xfrm>
            <a:off x="3384465" y="1888232"/>
            <a:ext cx="264788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0" name="Text 8"/>
          <p:cNvSpPr/>
          <p:nvPr/>
        </p:nvSpPr>
        <p:spPr>
          <a:xfrm>
            <a:off x="3384465" y="2070735"/>
            <a:ext cx="264788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Day 30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384465" y="2529006"/>
            <a:ext cx="264788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Upcoming payment remains visible with assumptions shown.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159346" y="1564382"/>
            <a:ext cx="911996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03</a:t>
            </a:r>
            <a:endParaRPr lang="en-US" sz="1850" dirty="0"/>
          </a:p>
        </p:txBody>
      </p:sp>
      <p:sp>
        <p:nvSpPr>
          <p:cNvPr id="13" name="Shape 11"/>
          <p:cNvSpPr/>
          <p:nvPr/>
        </p:nvSpPr>
        <p:spPr>
          <a:xfrm>
            <a:off x="6159346" y="1888232"/>
            <a:ext cx="264788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6159346" y="2070735"/>
            <a:ext cx="264788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Day 40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159346" y="2529006"/>
            <a:ext cx="264788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Early alert gives the vendor time to organize evidence.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8934226" y="1564382"/>
            <a:ext cx="911202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0E7C86"/>
                </a:solidFill>
                <a:latin typeface="Public Sans SemiBold" pitchFamily="34" charset="0"/>
                <a:ea typeface="Public Sans SemiBold" pitchFamily="34" charset="-122"/>
                <a:cs typeface="Public Sans SemiBold" pitchFamily="34" charset="0"/>
              </a:rPr>
              <a:t>04</a:t>
            </a:r>
            <a:endParaRPr lang="en-US" sz="1850" dirty="0"/>
          </a:p>
        </p:txBody>
      </p:sp>
      <p:sp>
        <p:nvSpPr>
          <p:cNvPr id="17" name="Shape 15"/>
          <p:cNvSpPr/>
          <p:nvPr/>
        </p:nvSpPr>
        <p:spPr>
          <a:xfrm>
            <a:off x="8934226" y="1888232"/>
            <a:ext cx="2647884" cy="1905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8" name="Text 16"/>
          <p:cNvSpPr/>
          <p:nvPr/>
        </p:nvSpPr>
        <p:spPr>
          <a:xfrm>
            <a:off x="8934226" y="2070735"/>
            <a:ext cx="264788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Overdue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934226" y="2529006"/>
            <a:ext cx="2647884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Escalation package is prepared for an ODR-ready path.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609585" y="3659088"/>
            <a:ext cx="5333867" cy="991195"/>
          </a:xfrm>
          <a:prstGeom prst="roundRect">
            <a:avLst>
              <a:gd name="adj" fmla="val 3267"/>
            </a:avLst>
          </a:prstGeom>
          <a:solidFill>
            <a:srgbClr val="E7EAF0"/>
          </a:solidFill>
          <a:ln/>
        </p:spPr>
      </p:sp>
      <p:sp>
        <p:nvSpPr>
          <p:cNvPr id="21" name="Text 19"/>
          <p:cNvSpPr/>
          <p:nvPr/>
        </p:nvSpPr>
        <p:spPr>
          <a:xfrm>
            <a:off x="838179" y="3887688"/>
            <a:ext cx="487667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Configurable monitoring supports the 45-day MSMED assumption and makes calculation assumptions visible.</a:t>
            </a:r>
            <a:endParaRPr lang="en-US" sz="1450" dirty="0"/>
          </a:p>
        </p:txBody>
      </p:sp>
      <p:sp>
        <p:nvSpPr>
          <p:cNvPr id="22" name="Shape 20"/>
          <p:cNvSpPr/>
          <p:nvPr/>
        </p:nvSpPr>
        <p:spPr>
          <a:xfrm>
            <a:off x="6248244" y="3659088"/>
            <a:ext cx="5333867" cy="991195"/>
          </a:xfrm>
          <a:prstGeom prst="roundRect">
            <a:avLst>
              <a:gd name="adj" fmla="val 3267"/>
            </a:avLst>
          </a:prstGeom>
          <a:solidFill>
            <a:srgbClr val="E7EAF0"/>
          </a:solidFill>
          <a:ln/>
        </p:spPr>
      </p:sp>
      <p:sp>
        <p:nvSpPr>
          <p:cNvPr id="23" name="Text 21"/>
          <p:cNvSpPr/>
          <p:nvPr/>
        </p:nvSpPr>
        <p:spPr>
          <a:xfrm>
            <a:off x="6476838" y="3887688"/>
            <a:ext cx="4876678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Interest figures are estimates for planning, not guaranteed recoveries or legal advice.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11809216" y="6451898"/>
            <a:ext cx="382479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163621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9585" y="2553474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DEMO READINESS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609585" y="2855329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The prototype is designed for a real demo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609585" y="3513971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Persistent demo mode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609585" y="3972242"/>
            <a:ext cx="3454314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Realistic sample data is persisted in the browser.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4368691" y="3513971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Core views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4368691" y="3972242"/>
            <a:ext cx="3454314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Dashboard metrics, invoices, purchase orders, tenders, compliance, documents, reports, and profile details.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8127797" y="3513971"/>
            <a:ext cx="3454314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Operational handoff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8127797" y="3972242"/>
            <a:ext cx="3454314" cy="1252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CSV export and print-friendly reporting support academic demonstration and future operational use.</a:t>
            </a:r>
            <a:endParaRPr lang="en-US" sz="1700" dirty="0"/>
          </a:p>
        </p:txBody>
      </p:sp>
      <p:sp>
        <p:nvSpPr>
          <p:cNvPr id="11" name="Text 8"/>
          <p:cNvSpPr/>
          <p:nvPr/>
        </p:nvSpPr>
        <p:spPr>
          <a:xfrm>
            <a:off x="11813979" y="6451898"/>
            <a:ext cx="37771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RELEASE 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A modular monolith keeps the first release buildable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64382"/>
            <a:ext cx="3454314" cy="2522141"/>
          </a:xfrm>
          <a:prstGeom prst="roundRect">
            <a:avLst>
              <a:gd name="adj" fmla="val 1284"/>
            </a:avLst>
          </a:prstGeom>
          <a:solidFill>
            <a:srgbClr val="E4EAE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1792982"/>
            <a:ext cx="431789" cy="43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8179" y="2358450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React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38179" y="2921516"/>
            <a:ext cx="2997125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Presents dashboards and forms through REST APIs.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4368691" y="1564382"/>
            <a:ext cx="3454314" cy="2522141"/>
          </a:xfrm>
          <a:prstGeom prst="roundRect">
            <a:avLst>
              <a:gd name="adj" fmla="val 1284"/>
            </a:avLst>
          </a:prstGeom>
          <a:solidFill>
            <a:srgbClr val="0E7C8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7285" y="1792982"/>
            <a:ext cx="431789" cy="4318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2358450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Java Spring Boot</a:t>
            </a:r>
            <a:endParaRPr lang="en-US" sz="2400" dirty="0"/>
          </a:p>
        </p:txBody>
      </p:sp>
      <p:sp>
        <p:nvSpPr>
          <p:cNvPr id="11" name="Text 7"/>
          <p:cNvSpPr/>
          <p:nvPr/>
        </p:nvSpPr>
        <p:spPr>
          <a:xfrm>
            <a:off x="4597285" y="2921516"/>
            <a:ext cx="299712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Owns payment clocks, interest estimates, risk scoring, and alerts.</a:t>
            </a:r>
            <a:endParaRPr lang="en-US" sz="1700" dirty="0"/>
          </a:p>
        </p:txBody>
      </p:sp>
      <p:sp>
        <p:nvSpPr>
          <p:cNvPr id="12" name="Shape 8"/>
          <p:cNvSpPr/>
          <p:nvPr/>
        </p:nvSpPr>
        <p:spPr>
          <a:xfrm>
            <a:off x="8127797" y="1564382"/>
            <a:ext cx="3454314" cy="2522141"/>
          </a:xfrm>
          <a:prstGeom prst="roundRect">
            <a:avLst>
              <a:gd name="adj" fmla="val 1284"/>
            </a:avLst>
          </a:prstGeom>
          <a:solidFill>
            <a:srgbClr val="E4EAEF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6391" y="1792982"/>
            <a:ext cx="431789" cy="4318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356391" y="2358450"/>
            <a:ext cx="2997125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spc="-24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PostgreSQL</a:t>
            </a:r>
            <a:endParaRPr lang="en-US" sz="2400" dirty="0"/>
          </a:p>
        </p:txBody>
      </p:sp>
      <p:sp>
        <p:nvSpPr>
          <p:cNvPr id="15" name="Text 10"/>
          <p:cNvSpPr/>
          <p:nvPr/>
        </p:nvSpPr>
        <p:spPr>
          <a:xfrm>
            <a:off x="8356391" y="2921516"/>
            <a:ext cx="2997125" cy="939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Stores users, invoices, documents, alerts, and compliance records.</a:t>
            </a:r>
            <a:endParaRPr lang="en-US" sz="1700" dirty="0"/>
          </a:p>
        </p:txBody>
      </p:sp>
      <p:sp>
        <p:nvSpPr>
          <p:cNvPr id="16" name="Text 11"/>
          <p:cNvSpPr/>
          <p:nvPr/>
        </p:nvSpPr>
        <p:spPr>
          <a:xfrm>
            <a:off x="609585" y="4283770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Modules stay separated so higher-scale services can be extracted later.</a:t>
            </a:r>
            <a:endParaRPr lang="en-US" sz="1250" dirty="0"/>
          </a:p>
        </p:txBody>
      </p:sp>
      <p:sp>
        <p:nvSpPr>
          <p:cNvPr id="17" name="Text 12"/>
          <p:cNvSpPr/>
          <p:nvPr/>
        </p:nvSpPr>
        <p:spPr>
          <a:xfrm>
            <a:off x="11805744" y="6451898"/>
            <a:ext cx="385951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536270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IMPLEMENTATION BASELINE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4312"/>
            <a:ext cx="10972526" cy="4551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3200" spc="-32" kern="100" dirty="0">
                <a:solidFill>
                  <a:srgbClr val="1B2632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Technology stack aligns with the project mandate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585" y="1564382"/>
            <a:ext cx="5333867" cy="1547416"/>
          </a:xfrm>
          <a:prstGeom prst="roundRect">
            <a:avLst>
              <a:gd name="adj" fmla="val 2093"/>
            </a:avLst>
          </a:prstGeom>
          <a:solidFill>
            <a:srgbClr val="E7EAF0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1801555"/>
            <a:ext cx="48766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Backend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2259826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Java 17 LTS, Spring Boot, Spring Security, JWT, Spring Data JPA, Hibernate.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6248244" y="1564382"/>
            <a:ext cx="5333867" cy="1547416"/>
          </a:xfrm>
          <a:prstGeom prst="roundRect">
            <a:avLst>
              <a:gd name="adj" fmla="val 2093"/>
            </a:avLst>
          </a:prstGeom>
          <a:solidFill>
            <a:srgbClr val="E7EAF0"/>
          </a:solidFill>
          <a:ln/>
        </p:spPr>
      </p:sp>
      <p:sp>
        <p:nvSpPr>
          <p:cNvPr id="8" name="Text 6"/>
          <p:cNvSpPr/>
          <p:nvPr/>
        </p:nvSpPr>
        <p:spPr>
          <a:xfrm>
            <a:off x="6476838" y="1801555"/>
            <a:ext cx="48766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Frontend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76838" y="2259826"/>
            <a:ext cx="5105272" cy="3130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React.js with a responsive interface.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09585" y="3416598"/>
            <a:ext cx="5333867" cy="1547416"/>
          </a:xfrm>
          <a:prstGeom prst="roundRect">
            <a:avLst>
              <a:gd name="adj" fmla="val 2093"/>
            </a:avLst>
          </a:prstGeom>
          <a:solidFill>
            <a:srgbClr val="E7EAF0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3653770"/>
            <a:ext cx="48766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Data and delivery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179" y="4112042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PostgreSQL, cloud object storage, Docker, CI/CD.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3416598"/>
            <a:ext cx="5333867" cy="1547416"/>
          </a:xfrm>
          <a:prstGeom prst="roundRect">
            <a:avLst>
              <a:gd name="adj" fmla="val 2093"/>
            </a:avLst>
          </a:prstGeom>
          <a:solidFill>
            <a:srgbClr val="E7EAF0"/>
          </a:solidFill>
          <a:ln/>
        </p:spPr>
      </p:sp>
      <p:sp>
        <p:nvSpPr>
          <p:cNvPr id="14" name="Text 12"/>
          <p:cNvSpPr/>
          <p:nvPr/>
        </p:nvSpPr>
        <p:spPr>
          <a:xfrm>
            <a:off x="6476838" y="3653770"/>
            <a:ext cx="4876678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1B2632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Phased capabilities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76838" y="4112042"/>
            <a:ext cx="4876678" cy="6260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7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OCR, WhatsApp Business, email, Tally, GST e-invoice, and TReDS.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585" y="5161260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Supporting integrations are phased capabilities, keeping the first release aligned to the project mandate.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808919" y="6451898"/>
            <a:ext cx="382776" cy="2025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100" spc="44" kern="100" dirty="0">
                <a:solidFill>
                  <a:srgbClr val="536270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09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2458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00" spc="96" kern="100" dirty="0">
                <a:solidFill>
                  <a:srgbClr val="FFFFFF"/>
                </a:solidFill>
                <a:latin typeface="Public Sans Medium" pitchFamily="34" charset="0"/>
                <a:ea typeface="Public Sans Medium" pitchFamily="34" charset="-122"/>
                <a:cs typeface="Public Sans Medium" pitchFamily="34" charset="0"/>
              </a:rPr>
              <a:t>DECISION SUPPORT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21576"/>
            <a:ext cx="10972526" cy="11378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3000"/>
              </a:lnSpc>
              <a:buNone/>
            </a:pPr>
            <a:r>
              <a:rPr lang="en-US" sz="4000" spc="-40" kern="100" dirty="0">
                <a:solidFill>
                  <a:srgbClr val="FFFFFF"/>
                </a:solidFill>
                <a:latin typeface="Sora SemiBold" pitchFamily="34" charset="0"/>
                <a:ea typeface="Sora SemiBold" pitchFamily="34" charset="-122"/>
                <a:cs typeface="Sora SemiBold" pitchFamily="34" charset="0"/>
              </a:rPr>
              <a:t>Compliance intelligence adds decision support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247106"/>
            <a:ext cx="5410065" cy="1455341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5" name="Text 3"/>
          <p:cNvSpPr/>
          <p:nvPr/>
        </p:nvSpPr>
        <p:spPr>
          <a:xfrm>
            <a:off x="838179" y="2484279"/>
            <a:ext cx="49528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Quota performance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2939852"/>
            <a:ext cx="49528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Estimate MSME procurement-quota performance by buyer or zone.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6172046" y="2247106"/>
            <a:ext cx="5410065" cy="1455341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8" name="Text 6"/>
          <p:cNvSpPr/>
          <p:nvPr/>
        </p:nvSpPr>
        <p:spPr>
          <a:xfrm>
            <a:off x="6400640" y="2484279"/>
            <a:ext cx="49528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Specification alerts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400640" y="2939852"/>
            <a:ext cx="49528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Surface specification-change alerts relevant to a vendor’s product categories.</a:t>
            </a:r>
            <a:endParaRPr lang="en-US" sz="1450" dirty="0"/>
          </a:p>
        </p:txBody>
      </p:sp>
      <p:sp>
        <p:nvSpPr>
          <p:cNvPr id="10" name="Shape 8"/>
          <p:cNvSpPr/>
          <p:nvPr/>
        </p:nvSpPr>
        <p:spPr>
          <a:xfrm>
            <a:off x="609585" y="3854847"/>
            <a:ext cx="5410065" cy="1455341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1" name="Text 9"/>
          <p:cNvSpPr/>
          <p:nvPr/>
        </p:nvSpPr>
        <p:spPr>
          <a:xfrm>
            <a:off x="838179" y="4092019"/>
            <a:ext cx="49528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Buyer risk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38179" y="4547592"/>
            <a:ext cx="49528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Build buyer-risk profiles from aggregated, anonymized evidence.</a:t>
            </a:r>
            <a:endParaRPr lang="en-US" sz="1450" dirty="0"/>
          </a:p>
        </p:txBody>
      </p:sp>
      <p:sp>
        <p:nvSpPr>
          <p:cNvPr id="13" name="Shape 11"/>
          <p:cNvSpPr/>
          <p:nvPr/>
        </p:nvSpPr>
        <p:spPr>
          <a:xfrm>
            <a:off x="6172046" y="3854847"/>
            <a:ext cx="5410065" cy="1455341"/>
          </a:xfrm>
          <a:prstGeom prst="rect">
            <a:avLst/>
          </a:prstGeom>
          <a:solidFill>
            <a:srgbClr val="E4EAEF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640" y="4092019"/>
            <a:ext cx="495287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spc="-18" kern="10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Clear boundaries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400640" y="4547592"/>
            <a:ext cx="4952876" cy="5339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1000"/>
              </a:lnSpc>
              <a:buNone/>
            </a:pPr>
            <a:r>
              <a:rPr lang="en-US" sz="1450" dirty="0">
                <a:solidFill>
                  <a:srgbClr val="3A4756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Keep estimates clearly labelled and separate from official government data.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09585" y="5491559"/>
            <a:ext cx="11582110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Public Sans" pitchFamily="34" charset="0"/>
                <a:ea typeface="Public Sans" pitchFamily="34" charset="-122"/>
                <a:cs typeface="Public Sans" pitchFamily="34" charset="0"/>
              </a:rPr>
              <a:t>SARRTHI complements the MSME ODR Portal; it does not arbitrate, mediate, or replace it.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2026-10-27T17:52:15Z</dcterms:created>
  <dcterms:modified xsi:type="dcterms:W3CDTF">2026-10-27T17:52:15Z</dcterms:modified>
</cp:coreProperties>
</file>